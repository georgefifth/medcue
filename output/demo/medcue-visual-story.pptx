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9c1c73b2c44a23" /><Relationship Type="http://schemas.openxmlformats.org/officeDocument/2006/relationships/extended-properties" Target="/docProps/app.xml" Id="Ra41cdbd15dd4455e" /><Relationship Type="http://schemas.openxmlformats.org/officeDocument/2006/relationships/officeDocument" Target="/ppt/presentation.xml" Id="Rbc1de8f506ff46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a93e871bce40b0"/>
  </p:sldMasterIdLst>
  <p:notesMasterIdLst>
    <p:notesMasterId xmlns:r="http://schemas.openxmlformats.org/officeDocument/2006/relationships" r:id="R3bd10f6c2efa4ffe"/>
  </p:notesMasterIdLst>
  <p:sldIdLst>
    <p:sldId xmlns:r="http://schemas.openxmlformats.org/officeDocument/2006/relationships" id="256" r:id="R0a26620e7e024ad0"/>
    <p:sldId xmlns:r="http://schemas.openxmlformats.org/officeDocument/2006/relationships" id="257" r:id="R2ac637f66db74ede"/>
    <p:sldId xmlns:r="http://schemas.openxmlformats.org/officeDocument/2006/relationships" id="258" r:id="R83e8ad04ede84230"/>
    <p:sldId xmlns:r="http://schemas.openxmlformats.org/officeDocument/2006/relationships" id="259" r:id="R109ac94ee9694203"/>
    <p:sldId xmlns:r="http://schemas.openxmlformats.org/officeDocument/2006/relationships" id="260" r:id="R5c7b98abf78b422d"/>
    <p:sldId xmlns:r="http://schemas.openxmlformats.org/officeDocument/2006/relationships" id="261" r:id="Rb4d8c3eaa5ae400b"/>
    <p:sldId xmlns:r="http://schemas.openxmlformats.org/officeDocument/2006/relationships" id="262" r:id="Ree12ab48790548d5"/>
    <p:sldId xmlns:r="http://schemas.openxmlformats.org/officeDocument/2006/relationships" id="263" r:id="Re7b165b8858a42cf"/>
    <p:sldId xmlns:r="http://schemas.openxmlformats.org/officeDocument/2006/relationships" id="264" r:id="Rf389705509f7494f"/>
    <p:sldId xmlns:r="http://schemas.openxmlformats.org/officeDocument/2006/relationships" id="265" r:id="Re5837289a85e4bc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9e6142f30e4320" /><Relationship Type="http://schemas.openxmlformats.org/officeDocument/2006/relationships/slideMaster" Target="/ppt/slideMasters/slideMaster1.xml" Id="Raba93e871bce40b0" /><Relationship Type="http://schemas.openxmlformats.org/officeDocument/2006/relationships/notesMaster" Target="/ppt/notesMasters/notesMaster1.xml" Id="R3bd10f6c2efa4ffe" /><Relationship Type="http://schemas.openxmlformats.org/officeDocument/2006/relationships/presProps" Target="/ppt/presProps.xml" Id="R48bca17817bc453d" /><Relationship Type="http://schemas.openxmlformats.org/officeDocument/2006/relationships/tableStyles" Target="/ppt/tableStyles.xml" Id="Rb80e76d688204cc6" /><Relationship Type="http://schemas.openxmlformats.org/officeDocument/2006/relationships/slide" Target="/ppt/slides/slide1.xml" Id="R0a26620e7e024ad0" /><Relationship Type="http://schemas.openxmlformats.org/officeDocument/2006/relationships/slide" Target="/ppt/slides/slide2.xml" Id="R2ac637f66db74ede" /><Relationship Type="http://schemas.openxmlformats.org/officeDocument/2006/relationships/slide" Target="/ppt/slides/slide3.xml" Id="R83e8ad04ede84230" /><Relationship Type="http://schemas.openxmlformats.org/officeDocument/2006/relationships/slide" Target="/ppt/slides/slide4.xml" Id="R109ac94ee9694203" /><Relationship Type="http://schemas.openxmlformats.org/officeDocument/2006/relationships/slide" Target="/ppt/slides/slide5.xml" Id="R5c7b98abf78b422d" /><Relationship Type="http://schemas.openxmlformats.org/officeDocument/2006/relationships/slide" Target="/ppt/slides/slide6.xml" Id="Rb4d8c3eaa5ae400b" /><Relationship Type="http://schemas.openxmlformats.org/officeDocument/2006/relationships/slide" Target="/ppt/slides/slide7.xml" Id="Ree12ab48790548d5" /><Relationship Type="http://schemas.openxmlformats.org/officeDocument/2006/relationships/slide" Target="/ppt/slides/slide8.xml" Id="Re7b165b8858a42cf" /><Relationship Type="http://schemas.openxmlformats.org/officeDocument/2006/relationships/slide" Target="/ppt/slides/slide9.xml" Id="Rf389705509f7494f" /><Relationship Type="http://schemas.openxmlformats.org/officeDocument/2006/relationships/slide" Target="/ppt/slides/slide10.xml" Id="Re5837289a85e4b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741150d8f442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9a29eb70ed4e8b" /><Relationship Type="http://schemas.openxmlformats.org/officeDocument/2006/relationships/notesMaster" Target="/ppt/notesMasters/notesMaster1.xml" Id="R63afb326831642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3f77399a2d482f" /><Relationship Type="http://schemas.openxmlformats.org/officeDocument/2006/relationships/notesMaster" Target="/ppt/notesMasters/notesMaster1.xml" Id="R5e14e3eee64144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d0eb0649c84058" /><Relationship Type="http://schemas.openxmlformats.org/officeDocument/2006/relationships/notesMaster" Target="/ppt/notesMasters/notesMaster1.xml" Id="R6c838ebc0b5843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ddb23ce22b4992" /><Relationship Type="http://schemas.openxmlformats.org/officeDocument/2006/relationships/notesMaster" Target="/ppt/notesMasters/notesMaster1.xml" Id="R8b5f9c92f71f45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d53c08289745bc" /><Relationship Type="http://schemas.openxmlformats.org/officeDocument/2006/relationships/notesMaster" Target="/ppt/notesMasters/notesMaster1.xml" Id="R17c6db6d37c544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1ad4d7d460490a" /><Relationship Type="http://schemas.openxmlformats.org/officeDocument/2006/relationships/notesMaster" Target="/ppt/notesMasters/notesMaster1.xml" Id="R63510ed894a241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c395849f7d4929" /><Relationship Type="http://schemas.openxmlformats.org/officeDocument/2006/relationships/notesMaster" Target="/ppt/notesMasters/notesMaster1.xml" Id="R3d1333cc2f344f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3f1ef633cc45e2" /><Relationship Type="http://schemas.openxmlformats.org/officeDocument/2006/relationships/notesMaster" Target="/ppt/notesMasters/notesMaster1.xml" Id="Rf400851b71a741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e59a1ff5534dfa" /><Relationship Type="http://schemas.openxmlformats.org/officeDocument/2006/relationships/notesMaster" Target="/ppt/notesMasters/notesMaster1.xml" Id="R14537f4fcf9042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6c2156cd0b48fc" /><Relationship Type="http://schemas.openxmlformats.org/officeDocument/2006/relationships/notesMaster" Target="/ppt/notesMasters/notesMaster1.xml" Id="Rf1bf1cc3260c4f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https://github.com/Georgefifth/medcue/blob/codex/medcue/evaluation/editor-study/README.md</a:t>
            </a:r>
          </a:p>
          <a:p xmlns:a="http://schemas.openxmlformats.org/drawingml/2006/main">
            <a:r>
              <a:t>NLM source: https://medlineplus.gov/medlineplus-videos/antibiotics-vs-bacteria-fighting-the-resistance/</a:t>
            </a:r>
          </a:p>
          <a:p xmlns:a="http://schemas.openxmlformats.org/drawingml/2006/main">
            <a:r>
              <a:t>Actual ASR cue 4. This is a selected example, not an accuracy or prevalence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https://github.com/Georgefifth/medcue/blob/codex/medcue/src/main.js</a:t>
            </a:r>
          </a:p>
          <a:p xmlns:a="http://schemas.openxmlformats.org/drawingml/2006/main">
            <a:r>
              <a:t>These are editor actions, not enforced playback prerequisites. The one-action review transition is structural, not measured human time savings.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https://github.com/Georgefifth/medcue/blob/codex/medcue/src/main.js</a:t>
            </a:r>
          </a:p>
          <a:p xmlns:a="http://schemas.openxmlformats.org/drawingml/2006/main">
            <a:r>
              <a:t>These are editor actions, not enforced playback prerequisites. The one-action review transition is structural, not measured human time savings.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https://georgefifth.github.io/medcue/ in an isolated recorder session on 2026-10-19. No text or review decisions altered for this screenshot. Crop is of the original evidence area, not a mockup.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https://github.com/Georgefifth/medcue/blob/codex/medcue/src/main.js and src/core.js. GitHub Pages serves static assets. User audio is not uploaded. Browser draft storage is localStorage, not encrypted medical-record storage. Audio is reattached after reload.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https://github.com/Georgefifth/medcue/blob/codex/medcue/server/ai.mjs and src/main.js. Only a selected cue and glossary are sent after explicit Check with AI. The Node server protects its key and applies spacing/concurrency/budget guards. A configured cloud endpoint or server-side Ollama returns unverified suggestions. Pages has no such backend. No live model call is made during this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public/sample/antibiotics.srt cue 4 and src/core.js exportSrt. The reviewed wording shown is a manual demonstration correction, supported by the separately preserved publisher captions across adjacent publisher cues. This is a prepared example. The live demonstration exports all 14 cues while only one has been marked reviewed. Other cues may still contain errors.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https://github.com/Georgefifth/medcue/blob/codex/medcue/evaluation/editor-study/README.md</a:t>
            </a:r>
          </a:p>
          <a:p xmlns:a="http://schemas.openxmlformats.org/drawingml/2006/main">
            <a:r>
              <a:t>Natural ASR antibiotics=134 cues, naloxone=123 cues, sum=257. These are developer-run import/export checks. Selected-cue playback was tested, not a manual listening review of every cue. They are not medical accuracy data. Current release tests: docs/verification.json, core=9, API=13, browser=14.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Recorded responses: https://github.com/Georgefifth/medcue/blob/codex/medcue/evaluation/editor-study/gemini-natural-asr.json</a:t>
            </a:r>
          </a:p>
          <a:p xmlns:a="http://schemas.openxmlformats.org/drawingml/2006/main">
            <a:r>
              <a:t>Four developer-selected, unblinded cases. Displayed quotes and reasons below are exact model output. The gonorrhea cue contains a different actual mismatch (death vs deaf in the reference); the suggested quote misses it. No inference is performed for the video. Not an accuracy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site: https://georgefifth.github.io/medcue/</a:t>
            </a:r>
          </a:p>
          <a:p xmlns:a="http://schemas.openxmlformats.org/drawingml/2006/main">
            <a:r>
              <a:t>Source: https://github.com/Georgefifth/medcue</a:t>
            </a:r>
          </a:p>
          <a:p xmlns:a="http://schemas.openxmlformats.org/drawingml/2006/main">
            <a:r>
              <a:t>The hosted edition runs editing only. No account is required. AI requires the server edition. This video uses a real recording walkthrough and illustrative diagrams, not a human validation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707087d644b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b6a7f57834a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24f9154b54a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675a72d6a41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e773db08f4c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98ad848f24b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F6A444-65AC-49F4-A0D0-60B82465E7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B78AA5-95EC-48B8-B44E-903B077D5A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B98E8D5-B22C-4E68-8219-497B81722B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F40AF2-D4CE-4761-AD22-1717449DC5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BF26CA-A823-4F12-A820-4840DD8171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AC97F2-035B-4361-AF77-61935C7B4E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3D8EF2-3C3A-461D-B206-93B489B665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E7B2F7-780B-432A-9166-2030611E64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80D847-8AF7-4149-96A9-60C6E47509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660003-2C8C-40F6-9E66-E4F21553AF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f2461d6ddb473f" /><Relationship Type="http://schemas.openxmlformats.org/officeDocument/2006/relationships/slideLayout" Target="/ppt/slideLayouts/slideLayout1.xml" Id="Rb540cd630a354705" /><Relationship Type="http://schemas.openxmlformats.org/officeDocument/2006/relationships/slideLayout" Target="/ppt/slideLayouts/slideLayout2.xml" Id="R6e9afc4392de4ea5" /><Relationship Type="http://schemas.openxmlformats.org/officeDocument/2006/relationships/slideLayout" Target="/ppt/slideLayouts/slideLayout3.xml" Id="R2ba1d6800de649fa" /><Relationship Type="http://schemas.openxmlformats.org/officeDocument/2006/relationships/slideLayout" Target="/ppt/slideLayouts/slideLayout4.xml" Id="R6180f4f0bc0a45a2" /><Relationship Type="http://schemas.openxmlformats.org/officeDocument/2006/relationships/slideLayout" Target="/ppt/slideLayouts/slideLayout5.xml" Id="R6acf021363104d20" /><Relationship Type="http://schemas.openxmlformats.org/officeDocument/2006/relationships/slideLayout" Target="/ppt/slideLayouts/slideLayout6.xml" Id="R919449c0d84540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40cd630a354705"/>
    <p:sldLayoutId xmlns:r="http://schemas.openxmlformats.org/officeDocument/2006/relationships" id="2147483650" r:id="R6e9afc4392de4ea5"/>
    <p:sldLayoutId xmlns:r="http://schemas.openxmlformats.org/officeDocument/2006/relationships" id="2147483651" r:id="R2ba1d6800de649fa"/>
    <p:sldLayoutId xmlns:r="http://schemas.openxmlformats.org/officeDocument/2006/relationships" id="2147483652" r:id="R6180f4f0bc0a45a2"/>
    <p:sldLayoutId xmlns:r="http://schemas.openxmlformats.org/officeDocument/2006/relationships" id="2147483653" r:id="R6acf021363104d20"/>
    <p:sldLayoutId xmlns:r="http://schemas.openxmlformats.org/officeDocument/2006/relationships" id="2147483654" r:id="R919449c0d84540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3c912db9849da" /><Relationship Type="http://schemas.openxmlformats.org/officeDocument/2006/relationships/notesSlide" Target="/ppt/notesSlides/notesSlide1.xml" Id="Re1a623caaffb41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c56916c5542f3" /><Relationship Type="http://schemas.openxmlformats.org/officeDocument/2006/relationships/notesSlide" Target="/ppt/notesSlides/notesSlide2.xml" Id="R5815b61380ff49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cd19db440c4a9a" /><Relationship Type="http://schemas.openxmlformats.org/officeDocument/2006/relationships/notesSlide" Target="/ppt/notesSlides/notesSlide3.xml" Id="R642cef4b633047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f05d388a04457" /><Relationship Type="http://schemas.openxmlformats.org/officeDocument/2006/relationships/image" Target="/ppt/media/image.png" Id="Rcd3345f22b274ed2" /><Relationship Type="http://schemas.openxmlformats.org/officeDocument/2006/relationships/notesSlide" Target="/ppt/notesSlides/notesSlide4.xml" Id="Rb7a53f05888e47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01ef9760ab42e8" /><Relationship Type="http://schemas.openxmlformats.org/officeDocument/2006/relationships/notesSlide" Target="/ppt/notesSlides/notesSlide5.xml" Id="R13de4f606f6645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65456b2d04bd4" /><Relationship Type="http://schemas.openxmlformats.org/officeDocument/2006/relationships/notesSlide" Target="/ppt/notesSlides/notesSlide6.xml" Id="R736ea731a2c94f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6d7264f654f16" /><Relationship Type="http://schemas.openxmlformats.org/officeDocument/2006/relationships/notesSlide" Target="/ppt/notesSlides/notesSlide7.xml" Id="R54411f50ff7e4c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005d198304416b" /><Relationship Type="http://schemas.openxmlformats.org/officeDocument/2006/relationships/chart" Target="/ppt/slides/charts/chart1.xml" Id="Rb71ad22fa42c4d7b" /><Relationship Type="http://schemas.openxmlformats.org/officeDocument/2006/relationships/notesSlide" Target="/ppt/notesSlides/notesSlide8.xml" Id="Reefe021696b249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062ca7670a478e" /><Relationship Type="http://schemas.openxmlformats.org/officeDocument/2006/relationships/notesSlide" Target="/ppt/notesSlides/notesSlide9.xml" Id="Re7958fb334624b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6d26515d114366" /><Relationship Type="http://schemas.openxmlformats.org/officeDocument/2006/relationships/notesSlide" Target="/ppt/notesSlides/notesSlide10.xml" Id="R4321f8c3b9704a4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Cues</c:v>
          </c:tx>
          <c:spPr>
            <a:solidFill xmlns:a="http://schemas.openxmlformats.org/drawingml/2006/main">
              <a:srgbClr val="126C75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Antibiotics</c:v>
                </c:pt>
                <c:pt idx="1">
                  <c:v>Naloxone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134</c:v>
                </c:pt>
                <c:pt idx="1">
                  <c:v>123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700" b="1">
                  <a:solidFill>
                    <a:srgbClr val="126C75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EDF2F3"/>
        </a:solidFill>
      </c:spPr>
    </c:plotArea>
    <c:plotVisOnly val="1"/>
  </c:chart>
  <c:spPr>
    <a:solidFill xmlns:a="http://schemas.openxmlformats.org/drawingml/2006/main">
      <a:srgbClr val="EDF2F3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D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E3E40-5D98-41B0-A000-EAEDFECCB26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58125" y="433387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6C75"/>
            </a:solidFill>
            <a:prstDash val="solid"/>
            <a:tailEnd type="triangle" w="med" len="med"/>
          </a:ln>
        </p:spPr>
      </p:cxnSp>
      <p:sp>
        <p:nvSpPr>
          <p:cNvPr id="14" name="caption-safe-area">
            <a:extLst xmlns:a="http://schemas.openxmlformats.org/drawingml/2006/main">
              <a:ext uri="{FF2B5EF4-FFF2-40B4-BE49-F238E27FC236}">
                <a16:creationId xmlns:a16="http://schemas.microsoft.com/office/drawing/2014/main" id="{E76FCFCB-0432-4A00-A938-77A3C07E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280CD0-224D-4C53-B189-A1D0DC3F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MedCue</a:t>
            </a:r>
          </a:p>
        </p:txBody>
      </p:sp>
      <p:sp>
        <p:nvSpPr>
          <p:cNvPr id="3" name="purpose">
            <a:extLst xmlns:a="http://schemas.openxmlformats.org/drawingml/2006/main">
              <a:ext uri="{FF2B5EF4-FFF2-40B4-BE49-F238E27FC236}">
                <a16:creationId xmlns:a16="http://schemas.microsoft.com/office/drawing/2014/main" id="{2B982A9D-AE39-4F82-A239-B5C5041F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1638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Subtitle review for medical education</a:t>
            </a:r>
          </a:p>
        </p:txBody>
      </p:sp>
      <p:sp>
        <p:nvSpPr>
          <p:cNvPr id="4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785AFA21-952B-4C79-8E15-9D645203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AUTOMATIC CAPTION</a:t>
            </a:r>
          </a:p>
        </p:txBody>
      </p:sp>
      <p:sp>
        <p:nvSpPr>
          <p:cNvPr id="5" name="original-word">
            <a:extLst xmlns:a="http://schemas.openxmlformats.org/drawingml/2006/main">
              <a:ext uri="{FF2B5EF4-FFF2-40B4-BE49-F238E27FC236}">
                <a16:creationId xmlns:a16="http://schemas.microsoft.com/office/drawing/2014/main" id="{4D8367A5-C66A-424D-BEAC-31A3B3A6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975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mersa</a:t>
            </a:r>
          </a:p>
        </p:txBody>
      </p:sp>
      <p:sp>
        <p:nvSpPr>
          <p:cNvPr id="6" name="source-anchor">
            <a:extLst xmlns:a="http://schemas.openxmlformats.org/drawingml/2006/main">
              <a:ext uri="{FF2B5EF4-FFF2-40B4-BE49-F238E27FC236}">
                <a16:creationId xmlns:a16="http://schemas.microsoft.com/office/drawing/2014/main" id="{8F2378B8-C005-4CA1-955D-C1E07873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8625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decision-anchor">
            <a:extLst xmlns:a="http://schemas.openxmlformats.org/drawingml/2006/main">
              <a:ext uri="{FF2B5EF4-FFF2-40B4-BE49-F238E27FC236}">
                <a16:creationId xmlns:a16="http://schemas.microsoft.com/office/drawing/2014/main" id="{5DE36C80-1B17-4948-B2EB-57F51AE1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28625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500B8FBA-AD07-4179-9AA0-37C7BEA5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9562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AFTER LISTENING</a:t>
            </a:r>
          </a:p>
        </p:txBody>
      </p:sp>
      <p:sp>
        <p:nvSpPr>
          <p:cNvPr id="10" name="reviewed-word">
            <a:extLst xmlns:a="http://schemas.openxmlformats.org/drawingml/2006/main">
              <a:ext uri="{FF2B5EF4-FFF2-40B4-BE49-F238E27FC236}">
                <a16:creationId xmlns:a16="http://schemas.microsoft.com/office/drawing/2014/main" id="{917F77F4-2BE4-4F71-BF6C-D01EFAC7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5762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97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97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97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97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97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97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97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97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97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97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97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MRSA</a:t>
            </a:r>
          </a:p>
        </p:txBody>
      </p:sp>
      <p:sp>
        <p:nvSpPr>
          <p:cNvPr id="11" name="source-separator">
            <a:extLst xmlns:a="http://schemas.openxmlformats.org/drawingml/2006/main">
              <a:ext uri="{FF2B5EF4-FFF2-40B4-BE49-F238E27FC236}">
                <a16:creationId xmlns:a16="http://schemas.microsoft.com/office/drawing/2014/main" id="{EC167F21-F9F0-4B40-A350-A37C87FF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1628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CDD1"/>
            </a:solidFill>
            <a:prstDash val="solid"/>
          </a:ln>
        </p:spPr>
      </p:sp>
      <p:sp>
        <p:nvSpPr>
          <p:cNvPr id="12" name="source-cue">
            <a:extLst xmlns:a="http://schemas.openxmlformats.org/drawingml/2006/main">
              <a:ext uri="{FF2B5EF4-FFF2-40B4-BE49-F238E27FC236}">
                <a16:creationId xmlns:a16="http://schemas.microsoft.com/office/drawing/2014/main" id="{9A7F2CFF-31E8-4DE6-AB59-23E5412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81750"/>
            <a:ext cx="1619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“gonorrhea mersa these bedbugs are”</a:t>
            </a:r>
          </a:p>
        </p:txBody>
      </p:sp>
      <p:sp>
        <p:nvSpPr>
          <p:cNvPr id="13" name="source-disclosure">
            <a:extLst xmlns:a="http://schemas.openxmlformats.org/drawingml/2006/main">
              <a:ext uri="{FF2B5EF4-FFF2-40B4-BE49-F238E27FC236}">
                <a16:creationId xmlns:a16="http://schemas.microsoft.com/office/drawing/2014/main" id="{3B74A962-A62B-448C-BB81-C548305A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0"/>
            <a:ext cx="1657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Actual automatic captions from public NLM audio. The editor makes the correction.</a:t>
            </a:r>
          </a:p>
        </p:txBody>
      </p:sp>
    </p:spTree>
    <p:extLst>
      <p:ext uri="{BB962C8B-B14F-4D97-AF65-F5344CB8AC3E}">
        <p14:creationId xmlns:p14="http://schemas.microsoft.com/office/powerpoint/2010/main" val="1404034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D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12824-48EF-44CF-A575-9CA7ADBFE4B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2954000" y="4310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6C75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1A23F5-4FC4-4449-AC1D-9185C485C8A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20125" y="4310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6C75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D4028D-3922-4542-B5C7-350DF4AA728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286250" y="4310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6C75"/>
            </a:solidFill>
            <a:prstDash val="solid"/>
            <a:tailEnd type="triangle" w="med" len="med"/>
          </a:ln>
        </p:spPr>
      </p:cxnSp>
      <p:sp>
        <p:nvSpPr>
          <p:cNvPr id="26" name="caption-safe-area">
            <a:extLst xmlns:a="http://schemas.openxmlformats.org/drawingml/2006/main">
              <a:ext uri="{FF2B5EF4-FFF2-40B4-BE49-F238E27FC236}">
                <a16:creationId xmlns:a16="http://schemas.microsoft.com/office/drawing/2014/main" id="{CCA4760C-95D9-4447-A4E1-BF7C2CA0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6746F8-80CD-4C82-B2BF-F9C72842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The review workflow</a:t>
            </a:r>
          </a:p>
        </p:txBody>
      </p:sp>
      <p:sp>
        <p:nvSpPr>
          <p:cNvPr id="3" name="step-0-number">
            <a:extLst xmlns:a="http://schemas.openxmlformats.org/drawingml/2006/main">
              <a:ext uri="{FF2B5EF4-FFF2-40B4-BE49-F238E27FC236}">
                <a16:creationId xmlns:a16="http://schemas.microsoft.com/office/drawing/2014/main" id="{48DA775F-912E-406E-8D79-77620699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089FD2F1-63B7-4FE1-86DD-8A0FD183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26C75"/>
            </a:solidFill>
            <a:prstDash val="solid"/>
          </a:ln>
        </p:spPr>
      </p:sp>
      <p:sp>
        <p:nvSpPr>
          <p:cNvPr id="5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673EA092-8B9E-413D-BB6D-E1CF029D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00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Open</a:t>
            </a:r>
          </a:p>
        </p:txBody>
      </p:sp>
      <p:sp>
        <p:nvSpPr>
          <p:cNvPr id="6" name="step-0-sub">
            <a:extLst xmlns:a="http://schemas.openxmlformats.org/drawingml/2006/main">
              <a:ext uri="{FF2B5EF4-FFF2-40B4-BE49-F238E27FC236}">
                <a16:creationId xmlns:a16="http://schemas.microsoft.com/office/drawing/2014/main" id="{79EF8AB9-EACD-4EC0-B42B-3A66690F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386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SRT and matching audio</a:t>
            </a:r>
          </a:p>
        </p:txBody>
      </p:sp>
      <p:sp>
        <p:nvSpPr>
          <p:cNvPr id="7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2FE4BE72-8150-4AE1-AB63-F01FF878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288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006E464E-7093-470C-BEFD-CD678BB1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26C75"/>
            </a:solidFill>
            <a:prstDash val="solid"/>
          </a:ln>
        </p:spPr>
      </p:sp>
      <p:sp>
        <p:nvSpPr>
          <p:cNvPr id="9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9D907A75-BF03-4943-BC88-D0222F50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0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Listen</a:t>
            </a:r>
          </a:p>
        </p:txBody>
      </p:sp>
      <p:sp>
        <p:nvSpPr>
          <p:cNvPr id="10" name="step-1-sub">
            <a:extLst xmlns:a="http://schemas.openxmlformats.org/drawingml/2006/main">
              <a:ext uri="{FF2B5EF4-FFF2-40B4-BE49-F238E27FC236}">
                <a16:creationId xmlns:a16="http://schemas.microsoft.com/office/drawing/2014/main" id="{5C896BCD-7952-4273-B427-EF1F5EAB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386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Replay the selected cue</a:t>
            </a:r>
          </a:p>
        </p:txBody>
      </p:sp>
      <p:sp>
        <p:nvSpPr>
          <p:cNvPr id="11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CF7F0D00-F7CB-4D45-9421-F5CC9A3C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288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5A32CDD9-07E9-4F9D-B545-3DC6C6A6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26C75"/>
            </a:solidFill>
            <a:prstDash val="solid"/>
          </a:ln>
        </p:spPr>
      </p:sp>
      <p:sp>
        <p:nvSpPr>
          <p:cNvPr id="13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DA9AAD3A-438E-4BB8-84CA-AD6C72AD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00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Review</a:t>
            </a:r>
          </a:p>
        </p:txBody>
      </p:sp>
      <p:sp>
        <p:nvSpPr>
          <p:cNvPr id="14" name="step-2-sub">
            <a:extLst xmlns:a="http://schemas.openxmlformats.org/drawingml/2006/main">
              <a:ext uri="{FF2B5EF4-FFF2-40B4-BE49-F238E27FC236}">
                <a16:creationId xmlns:a16="http://schemas.microsoft.com/office/drawing/2014/main" id="{F6BD4430-74C8-4F00-8287-1A32C933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386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Edit against the original</a:t>
            </a:r>
          </a:p>
        </p:txBody>
      </p:sp>
      <p:sp>
        <p:nvSpPr>
          <p:cNvPr id="15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F8EC954-0FDC-44B5-9EBE-68ED4BEF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24288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851BAF1D-5633-4F6C-AB29-465B3EBA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3333750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26C75"/>
            </a:solidFill>
            <a:prstDash val="solid"/>
          </a:ln>
        </p:spPr>
      </p:sp>
      <p:sp>
        <p:nvSpPr>
          <p:cNvPr id="17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ADBF3E4D-EF6B-4D63-A624-402C4F95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600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Export</a:t>
            </a:r>
          </a:p>
        </p:txBody>
      </p:sp>
      <p:sp>
        <p:nvSpPr>
          <p:cNvPr id="18" name="step-3-sub">
            <a:extLst xmlns:a="http://schemas.openxmlformats.org/drawingml/2006/main">
              <a:ext uri="{FF2B5EF4-FFF2-40B4-BE49-F238E27FC236}">
                <a16:creationId xmlns:a16="http://schemas.microsoft.com/office/drawing/2014/main" id="{BE8E5C81-2ED8-4F6B-8718-30690BE1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42386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SRT keeps its timing</a:t>
            </a:r>
          </a:p>
        </p:txBody>
      </p:sp>
      <p:sp>
        <p:nvSpPr>
          <p:cNvPr id="22" name="workflow-human">
            <a:extLst xmlns:a="http://schemas.openxmlformats.org/drawingml/2006/main">
              <a:ext uri="{FF2B5EF4-FFF2-40B4-BE49-F238E27FC236}">
                <a16:creationId xmlns:a16="http://schemas.microsoft.com/office/drawing/2014/main" id="{68D52B29-F22F-494E-933F-BAAEC043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436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Review &amp; next</a:t>
            </a:r>
          </a:p>
        </p:txBody>
      </p:sp>
      <p:sp>
        <p:nvSpPr>
          <p:cNvPr id="23" name="workflow-transition">
            <a:extLst xmlns:a="http://schemas.openxmlformats.org/drawingml/2006/main">
              <a:ext uri="{FF2B5EF4-FFF2-40B4-BE49-F238E27FC236}">
                <a16:creationId xmlns:a16="http://schemas.microsoft.com/office/drawing/2014/main" id="{783105C0-E04A-4882-BA35-394F920A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6198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One action records the decision and selects the next cue</a:t>
            </a:r>
          </a:p>
        </p:txBody>
      </p:sp>
      <p:sp>
        <p:nvSpPr>
          <p:cNvPr id="2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5FDFF444-D716-4FBC-9EEA-A6E2FBA8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19875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Original text and timestamps remain available throughout</a:t>
            </a:r>
          </a:p>
        </p:txBody>
      </p:sp>
      <p:sp>
        <p:nvSpPr>
          <p:cNvPr id="25" name="source-disclosure">
            <a:extLst xmlns:a="http://schemas.openxmlformats.org/drawingml/2006/main">
              <a:ext uri="{FF2B5EF4-FFF2-40B4-BE49-F238E27FC236}">
                <a16:creationId xmlns:a16="http://schemas.microsoft.com/office/drawing/2014/main" id="{9D28B8C3-7B1E-483E-8ED8-13B99E24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0"/>
            <a:ext cx="1657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Audio stays on the device. Editing and export work without AI.</a:t>
            </a:r>
          </a:p>
        </p:txBody>
      </p:sp>
    </p:spTree>
    <p:extLst>
      <p:ext uri="{BB962C8B-B14F-4D97-AF65-F5344CB8AC3E}">
        <p14:creationId xmlns:p14="http://schemas.microsoft.com/office/powerpoint/2010/main" val="1146720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4B967-23CB-41EC-874B-4098649C2E85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2954000" y="4310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7CDD1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0B5E97-C56C-426F-98C5-C407C75AA48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20125" y="4310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6C75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1C7AE-13BA-495B-940E-43AE125812E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286250" y="4310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7CDD1"/>
            </a:solidFill>
            <a:prstDash val="solid"/>
            <a:tailEnd type="triangle" w="med" len="med"/>
          </a:ln>
        </p:spPr>
      </p:cxnSp>
      <p:sp>
        <p:nvSpPr>
          <p:cNvPr id="27" name="caption-safe-area">
            <a:extLst xmlns:a="http://schemas.openxmlformats.org/drawingml/2006/main">
              <a:ext uri="{FF2B5EF4-FFF2-40B4-BE49-F238E27FC236}">
                <a16:creationId xmlns:a16="http://schemas.microsoft.com/office/drawing/2014/main" id="{B5236E0E-728F-416D-BFDF-23A79C41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362FDC-3FA7-4B5C-9359-29F8B09B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The recording guides the decision</a:t>
            </a:r>
          </a:p>
        </p:txBody>
      </p:sp>
      <p:sp>
        <p:nvSpPr>
          <p:cNvPr id="3" name="step-0-number">
            <a:extLst xmlns:a="http://schemas.openxmlformats.org/drawingml/2006/main">
              <a:ext uri="{FF2B5EF4-FFF2-40B4-BE49-F238E27FC236}">
                <a16:creationId xmlns:a16="http://schemas.microsoft.com/office/drawing/2014/main" id="{EB78BB8E-FCED-446E-87A3-41B81FB4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BE0F1443-1CF9-4324-9E69-9E82497F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28575">
            <a:solidFill>
              <a:srgbClr val="B7CDD1"/>
            </a:solidFill>
            <a:prstDash val="solid"/>
          </a:ln>
        </p:spPr>
      </p:sp>
      <p:sp>
        <p:nvSpPr>
          <p:cNvPr id="5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91652A0A-8BE8-44F5-9221-8DF0609D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00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Open</a:t>
            </a:r>
          </a:p>
        </p:txBody>
      </p:sp>
      <p:sp>
        <p:nvSpPr>
          <p:cNvPr id="6" name="step-0-sub">
            <a:extLst xmlns:a="http://schemas.openxmlformats.org/drawingml/2006/main">
              <a:ext uri="{FF2B5EF4-FFF2-40B4-BE49-F238E27FC236}">
                <a16:creationId xmlns:a16="http://schemas.microsoft.com/office/drawing/2014/main" id="{BEAF3C22-FCA1-4543-957C-C430B26F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386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SRT and matching audio</a:t>
            </a:r>
          </a:p>
        </p:txBody>
      </p:sp>
      <p:sp>
        <p:nvSpPr>
          <p:cNvPr id="7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807B2BCE-974A-4FF9-A526-E41A799A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288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8D969025-2339-410E-889E-3AFA5587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26C75"/>
            </a:solidFill>
            <a:prstDash val="solid"/>
          </a:ln>
        </p:spPr>
      </p:sp>
      <p:sp>
        <p:nvSpPr>
          <p:cNvPr id="9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7525BCD7-134D-43A0-9484-E16D0617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0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Listen</a:t>
            </a:r>
          </a:p>
        </p:txBody>
      </p:sp>
      <p:sp>
        <p:nvSpPr>
          <p:cNvPr id="10" name="step-1-sub">
            <a:extLst xmlns:a="http://schemas.openxmlformats.org/drawingml/2006/main">
              <a:ext uri="{FF2B5EF4-FFF2-40B4-BE49-F238E27FC236}">
                <a16:creationId xmlns:a16="http://schemas.microsoft.com/office/drawing/2014/main" id="{CB91BC19-AB96-4129-BE52-431552B5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386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Replay the selected cue</a:t>
            </a:r>
          </a:p>
        </p:txBody>
      </p:sp>
      <p:sp>
        <p:nvSpPr>
          <p:cNvPr id="11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E565886B-7DB1-4081-B90B-15277128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288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60005D5C-360F-4282-9A39-B01F0D7F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26C75"/>
            </a:solidFill>
            <a:prstDash val="solid"/>
          </a:ln>
        </p:spPr>
      </p:sp>
      <p:sp>
        <p:nvSpPr>
          <p:cNvPr id="13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15DFACF8-2BD0-498D-B67E-B465CEDB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00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Review</a:t>
            </a:r>
          </a:p>
        </p:txBody>
      </p:sp>
      <p:sp>
        <p:nvSpPr>
          <p:cNvPr id="14" name="step-2-sub">
            <a:extLst xmlns:a="http://schemas.openxmlformats.org/drawingml/2006/main">
              <a:ext uri="{FF2B5EF4-FFF2-40B4-BE49-F238E27FC236}">
                <a16:creationId xmlns:a16="http://schemas.microsoft.com/office/drawing/2014/main" id="{FAF0A335-C21E-47A1-939D-3FD2707E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386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Edit against the original</a:t>
            </a:r>
          </a:p>
        </p:txBody>
      </p:sp>
      <p:sp>
        <p:nvSpPr>
          <p:cNvPr id="15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0998376-B431-447E-B20F-5EDA063C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24288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35A8216C-83DF-4B2B-92BF-976DF08F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3333750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28575">
            <a:solidFill>
              <a:srgbClr val="B7CDD1"/>
            </a:solidFill>
            <a:prstDash val="solid"/>
          </a:ln>
        </p:spPr>
      </p:sp>
      <p:sp>
        <p:nvSpPr>
          <p:cNvPr id="17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2DD0E94F-E743-4C9E-A76B-C5DE81AD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600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Export</a:t>
            </a:r>
          </a:p>
        </p:txBody>
      </p:sp>
      <p:sp>
        <p:nvSpPr>
          <p:cNvPr id="18" name="step-3-sub">
            <a:extLst xmlns:a="http://schemas.openxmlformats.org/drawingml/2006/main">
              <a:ext uri="{FF2B5EF4-FFF2-40B4-BE49-F238E27FC236}">
                <a16:creationId xmlns:a16="http://schemas.microsoft.com/office/drawing/2014/main" id="{F260ADF8-01EE-433B-993D-1E6349E9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42386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SRT keeps its timing</a:t>
            </a:r>
          </a:p>
        </p:txBody>
      </p:sp>
      <p:sp>
        <p:nvSpPr>
          <p:cNvPr id="22" name="workflow-human">
            <a:extLst xmlns:a="http://schemas.openxmlformats.org/drawingml/2006/main">
              <a:ext uri="{FF2B5EF4-FFF2-40B4-BE49-F238E27FC236}">
                <a16:creationId xmlns:a16="http://schemas.microsoft.com/office/drawing/2014/main" id="{37B57E6E-989F-476E-872F-13E625D3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436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Review &amp; next</a:t>
            </a:r>
          </a:p>
        </p:txBody>
      </p:sp>
      <p:sp>
        <p:nvSpPr>
          <p:cNvPr id="23" name="workflow-transition">
            <a:extLst xmlns:a="http://schemas.openxmlformats.org/drawingml/2006/main">
              <a:ext uri="{FF2B5EF4-FFF2-40B4-BE49-F238E27FC236}">
                <a16:creationId xmlns:a16="http://schemas.microsoft.com/office/drawing/2014/main" id="{AEDB0F30-D4FC-4F0B-8138-4B01712E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6198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One action records the decision and selects the next cue</a:t>
            </a:r>
          </a:p>
        </p:txBody>
      </p:sp>
      <p:sp>
        <p:nvSpPr>
          <p:cNvPr id="24" name="listen-underline">
            <a:extLst xmlns:a="http://schemas.openxmlformats.org/drawingml/2006/main">
              <a:ext uri="{FF2B5EF4-FFF2-40B4-BE49-F238E27FC236}">
                <a16:creationId xmlns:a16="http://schemas.microsoft.com/office/drawing/2014/main" id="{057C76BB-6D90-41E8-AC4A-87B8BF66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6197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26C75"/>
            </a:solidFill>
            <a:prstDash val="solid"/>
          </a:ln>
        </p:spPr>
      </p:sp>
      <p:sp>
        <p:nvSpPr>
          <p:cNvPr id="25" name="listen-note">
            <a:extLst xmlns:a="http://schemas.openxmlformats.org/drawingml/2006/main">
              <a:ext uri="{FF2B5EF4-FFF2-40B4-BE49-F238E27FC236}">
                <a16:creationId xmlns:a16="http://schemas.microsoft.com/office/drawing/2014/main" id="{5A641DFD-0002-4116-A7F8-DCF8C483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1987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Replay includes nearby audio</a:t>
            </a:r>
          </a:p>
        </p:txBody>
      </p:sp>
      <p:sp>
        <p:nvSpPr>
          <p:cNvPr id="26" name="source-disclosure">
            <a:extLst xmlns:a="http://schemas.openxmlformats.org/drawingml/2006/main">
              <a:ext uri="{FF2B5EF4-FFF2-40B4-BE49-F238E27FC236}">
                <a16:creationId xmlns:a16="http://schemas.microsoft.com/office/drawing/2014/main" id="{D0A1C3B5-1D47-49EA-82E5-487FFB49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0"/>
            <a:ext cx="1657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Audio stays on the device. Editing and export work without AI.</a:t>
            </a:r>
          </a:p>
        </p:txBody>
      </p:sp>
    </p:spTree>
    <p:extLst>
      <p:ext uri="{BB962C8B-B14F-4D97-AF65-F5344CB8AC3E}">
        <p14:creationId xmlns:p14="http://schemas.microsoft.com/office/powerpoint/2010/main" val="925856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040B5-B1EB-42E7-B8A0-8F5C3A6BD2B8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591300" y="6248400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6C75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2379D-7977-4F67-B959-07D32647EB8A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591300" y="4772025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6C75"/>
            </a:solidFill>
            <a:prstDash val="soli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13E8A-54A0-4187-9EEC-E1C90EAE02C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591300" y="3390900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6C75"/>
            </a:solidFill>
            <a:prstDash val="solid"/>
            <a:tailEnd type="triangle" w="med" len="med"/>
          </a:ln>
        </p:spPr>
      </p:cxnSp>
      <p:sp>
        <p:nvSpPr>
          <p:cNvPr id="19" name="caption-safe-area">
            <a:extLst xmlns:a="http://schemas.openxmlformats.org/drawingml/2006/main">
              <a:ext uri="{FF2B5EF4-FFF2-40B4-BE49-F238E27FC236}">
                <a16:creationId xmlns:a16="http://schemas.microsoft.com/office/drawing/2014/main" id="{EE161A74-4E2E-4AEC-AC42-741E6782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77B2FD-DF7A-4160-8BDE-4A165A9A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Evidence beside the edit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4A4EE-65A1-4A72-8FB9-364932C73D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345f22b274ed2"/>
          <a:srcRect xmlns:a="http://schemas.openxmlformats.org/drawingml/2006/main" l="35677" t="36389" r="23698" b="18056"/>
          <a:stretch xmlns:a="http://schemas.openxmlformats.org/drawingml/2006/main"/>
        </p:blipFill>
        <p:spPr>
          <a:xfrm xmlns:a="http://schemas.openxmlformats.org/drawingml/2006/main">
            <a:off x="7239000" y="2190750"/>
            <a:ext cx="10096500" cy="6334125"/>
          </a:xfrm>
          <a:prstGeom xmlns:a="http://schemas.openxmlformats.org/drawingml/2006/main" prst="rect">
            <a:avLst/>
          </a:prstGeom>
        </p:spPr>
      </p:pic>
      <p:sp>
        <p:nvSpPr>
          <p:cNvPr id="4" name="callout-0-number">
            <a:extLst xmlns:a="http://schemas.openxmlformats.org/drawingml/2006/main">
              <a:ext uri="{FF2B5EF4-FFF2-40B4-BE49-F238E27FC236}">
                <a16:creationId xmlns:a16="http://schemas.microsoft.com/office/drawing/2014/main" id="{5FD672B2-EDE5-4109-A4BE-591CC432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90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callout-0">
            <a:extLst xmlns:a="http://schemas.openxmlformats.org/drawingml/2006/main">
              <a:ext uri="{FF2B5EF4-FFF2-40B4-BE49-F238E27FC236}">
                <a16:creationId xmlns:a16="http://schemas.microsoft.com/office/drawing/2014/main" id="{FFBD68FB-1AB8-42B5-AB88-B61C7B57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52750"/>
            <a:ext cx="4476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Nearby original context</a:t>
            </a:r>
          </a:p>
        </p:txBody>
      </p:sp>
      <p:sp>
        <p:nvSpPr>
          <p:cNvPr id="6" name="callout-anchor-0">
            <a:extLst xmlns:a="http://schemas.openxmlformats.org/drawingml/2006/main">
              <a:ext uri="{FF2B5EF4-FFF2-40B4-BE49-F238E27FC236}">
                <a16:creationId xmlns:a16="http://schemas.microsoft.com/office/drawing/2014/main" id="{1432F64A-90BA-4D38-98E2-E0F2A0F8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allout-target-0">
            <a:extLst xmlns:a="http://schemas.openxmlformats.org/drawingml/2006/main">
              <a:ext uri="{FF2B5EF4-FFF2-40B4-BE49-F238E27FC236}">
                <a16:creationId xmlns:a16="http://schemas.microsoft.com/office/drawing/2014/main" id="{E786D5A8-097C-41FF-A30F-1CE0F0DB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81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callout-1-number">
            <a:extLst xmlns:a="http://schemas.openxmlformats.org/drawingml/2006/main">
              <a:ext uri="{FF2B5EF4-FFF2-40B4-BE49-F238E27FC236}">
                <a16:creationId xmlns:a16="http://schemas.microsoft.com/office/drawing/2014/main" id="{6006B464-AFD4-4F55-B9F3-CAF467A3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90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callout-1">
            <a:extLst xmlns:a="http://schemas.openxmlformats.org/drawingml/2006/main">
              <a:ext uri="{FF2B5EF4-FFF2-40B4-BE49-F238E27FC236}">
                <a16:creationId xmlns:a16="http://schemas.microsoft.com/office/drawing/2014/main" id="{76B2B91A-7D54-4D69-AE59-87075C80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333875"/>
            <a:ext cx="4476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Original stays unchanged</a:t>
            </a:r>
          </a:p>
        </p:txBody>
      </p:sp>
      <p:sp>
        <p:nvSpPr>
          <p:cNvPr id="11" name="callout-anchor-1">
            <a:extLst xmlns:a="http://schemas.openxmlformats.org/drawingml/2006/main">
              <a:ext uri="{FF2B5EF4-FFF2-40B4-BE49-F238E27FC236}">
                <a16:creationId xmlns:a16="http://schemas.microsoft.com/office/drawing/2014/main" id="{4C7EBEB3-255E-4A7F-ABB9-D254A8CA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callout-target-1">
            <a:extLst xmlns:a="http://schemas.openxmlformats.org/drawingml/2006/main">
              <a:ext uri="{FF2B5EF4-FFF2-40B4-BE49-F238E27FC236}">
                <a16:creationId xmlns:a16="http://schemas.microsoft.com/office/drawing/2014/main" id="{3C26DD78-E098-4BC0-9998-703A3369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625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callout-2-number">
            <a:extLst xmlns:a="http://schemas.openxmlformats.org/drawingml/2006/main">
              <a:ext uri="{FF2B5EF4-FFF2-40B4-BE49-F238E27FC236}">
                <a16:creationId xmlns:a16="http://schemas.microsoft.com/office/drawing/2014/main" id="{18609DD4-BB02-43B9-B38A-022BF94A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90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callout-2">
            <a:extLst xmlns:a="http://schemas.openxmlformats.org/drawingml/2006/main">
              <a:ext uri="{FF2B5EF4-FFF2-40B4-BE49-F238E27FC236}">
                <a16:creationId xmlns:a16="http://schemas.microsoft.com/office/drawing/2014/main" id="{AA5B6549-CA7E-4877-802E-8BF81BFB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810250"/>
            <a:ext cx="4476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The editor owns the final text</a:t>
            </a:r>
          </a:p>
        </p:txBody>
      </p:sp>
      <p:sp>
        <p:nvSpPr>
          <p:cNvPr id="16" name="callout-anchor-2">
            <a:extLst xmlns:a="http://schemas.openxmlformats.org/drawingml/2006/main">
              <a:ext uri="{FF2B5EF4-FFF2-40B4-BE49-F238E27FC236}">
                <a16:creationId xmlns:a16="http://schemas.microsoft.com/office/drawing/2014/main" id="{A5491C48-AC9A-4CB2-BEBB-F90A53B0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2388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callout-target-2">
            <a:extLst xmlns:a="http://schemas.openxmlformats.org/drawingml/2006/main">
              <a:ext uri="{FF2B5EF4-FFF2-40B4-BE49-F238E27FC236}">
                <a16:creationId xmlns:a16="http://schemas.microsoft.com/office/drawing/2014/main" id="{B1EF9CBA-5B1D-4A4D-97E6-2EA53250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2388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3222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D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52C25-580D-4434-9FA8-93BF649667D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525250" y="431006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6C75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BA490-6567-46E6-BDEE-B07B53570DE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953000" y="4310063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6C75"/>
            </a:solidFill>
            <a:prstDash val="solid"/>
            <a:tailEnd type="triangle" w="med" len="med"/>
          </a:ln>
        </p:spPr>
      </p:cxnSp>
      <p:sp>
        <p:nvSpPr>
          <p:cNvPr id="20" name="caption-safe-area">
            <a:extLst xmlns:a="http://schemas.openxmlformats.org/drawingml/2006/main">
              <a:ext uri="{FF2B5EF4-FFF2-40B4-BE49-F238E27FC236}">
                <a16:creationId xmlns:a16="http://schemas.microsoft.com/office/drawing/2014/main" id="{0F67B36B-2C5E-45D4-BD02-7A7CA4C5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C9E7BE-99D5-4E44-B2AA-C62468F0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The editing loop runs in the browser</a:t>
            </a:r>
          </a:p>
        </p:txBody>
      </p:sp>
      <p:sp>
        <p:nvSpPr>
          <p:cNvPr id="3" name="input-label">
            <a:extLst xmlns:a="http://schemas.openxmlformats.org/drawingml/2006/main">
              <a:ext uri="{FF2B5EF4-FFF2-40B4-BE49-F238E27FC236}">
                <a16:creationId xmlns:a16="http://schemas.microsoft.com/office/drawing/2014/main" id="{7B73BED0-D23A-489D-928B-F7DC675A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DEVICE FILES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5EB1D059-0561-484D-9B03-7ED348D6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4000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26C75"/>
            </a:solidFill>
            <a:prstDash val="solid"/>
          </a:ln>
        </p:spPr>
      </p:sp>
      <p:sp>
        <p:nvSpPr>
          <p:cNvPr id="5" name="input-title">
            <a:extLst xmlns:a="http://schemas.openxmlformats.org/drawingml/2006/main">
              <a:ext uri="{FF2B5EF4-FFF2-40B4-BE49-F238E27FC236}">
                <a16:creationId xmlns:a16="http://schemas.microsoft.com/office/drawing/2014/main" id="{D3F45B96-7F6F-42D4-A310-51B96A4F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004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SRT + audio</a:t>
            </a:r>
          </a:p>
        </p:txBody>
      </p:sp>
      <p:sp>
        <p:nvSpPr>
          <p:cNvPr id="6" name="input-sub">
            <a:extLst xmlns:a="http://schemas.openxmlformats.org/drawingml/2006/main">
              <a:ext uri="{FF2B5EF4-FFF2-40B4-BE49-F238E27FC236}">
                <a16:creationId xmlns:a16="http://schemas.microsoft.com/office/drawing/2014/main" id="{FB06D99D-886D-48B4-ADE8-6E1515BF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38625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Existing subtitles and recording</a:t>
            </a:r>
          </a:p>
        </p:txBody>
      </p:sp>
      <p:sp>
        <p:nvSpPr>
          <p:cNvPr id="7" name="browser">
            <a:extLst xmlns:a="http://schemas.openxmlformats.org/drawingml/2006/main">
              <a:ext uri="{FF2B5EF4-FFF2-40B4-BE49-F238E27FC236}">
                <a16:creationId xmlns:a16="http://schemas.microsoft.com/office/drawing/2014/main" id="{CF633DBF-0974-4A6E-B84B-DBFAD235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4667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26C75"/>
            </a:solidFill>
            <a:prstDash val="solid"/>
          </a:ln>
        </p:spPr>
      </p:sp>
      <p:sp>
        <p:nvSpPr>
          <p:cNvPr id="8" name="browser-title">
            <a:extLst xmlns:a="http://schemas.openxmlformats.org/drawingml/2006/main">
              <a:ext uri="{FF2B5EF4-FFF2-40B4-BE49-F238E27FC236}">
                <a16:creationId xmlns:a16="http://schemas.microsoft.com/office/drawing/2014/main" id="{BDDCF3BC-958F-4BD4-B31D-F85484D6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004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Review desk</a:t>
            </a:r>
          </a:p>
        </p:txBody>
      </p:sp>
      <p:sp>
        <p:nvSpPr>
          <p:cNvPr id="9" name="browser-sub">
            <a:extLst xmlns:a="http://schemas.openxmlformats.org/drawingml/2006/main">
              <a:ext uri="{FF2B5EF4-FFF2-40B4-BE49-F238E27FC236}">
                <a16:creationId xmlns:a16="http://schemas.microsoft.com/office/drawing/2014/main" id="{B95F11FB-9682-4D99-A127-01B7A2F6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386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Parser, WaveSurfer and glossary rules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F4723BBE-D4B0-4FE7-8873-4C49528D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333750"/>
            <a:ext cx="3714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26C75"/>
            </a:solidFill>
            <a:prstDash val="solid"/>
          </a:ln>
        </p:spPr>
      </p:sp>
      <p:sp>
        <p:nvSpPr>
          <p:cNvPr id="11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D2DB825B-A854-49BE-9CB5-F380297A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36004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SRT + project</a:t>
            </a:r>
          </a:p>
        </p:txBody>
      </p:sp>
      <p:sp>
        <p:nvSpPr>
          <p:cNvPr id="12" name="output-sub">
            <a:extLst xmlns:a="http://schemas.openxmlformats.org/drawingml/2006/main">
              <a:ext uri="{FF2B5EF4-FFF2-40B4-BE49-F238E27FC236}">
                <a16:creationId xmlns:a16="http://schemas.microsoft.com/office/drawing/2014/main" id="{D06130AE-4030-4DAB-9C73-EAF53D6B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4238625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Export text or save review decisions</a:t>
            </a:r>
          </a:p>
        </p:txBody>
      </p:sp>
      <p:sp>
        <p:nvSpPr>
          <p:cNvPr id="15" name="browser-scope">
            <a:extLst xmlns:a="http://schemas.openxmlformats.org/drawingml/2006/main">
              <a:ext uri="{FF2B5EF4-FFF2-40B4-BE49-F238E27FC236}">
                <a16:creationId xmlns:a16="http://schemas.microsoft.com/office/drawing/2014/main" id="{2432A2E5-EAC6-4E7F-BFB4-2E15229A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BROWSER</a:t>
            </a:r>
          </a:p>
        </p:txBody>
      </p:sp>
      <p:sp>
        <p:nvSpPr>
          <p:cNvPr id="16" name="browser-data-boundary">
            <a:extLst xmlns:a="http://schemas.openxmlformats.org/drawingml/2006/main">
              <a:ext uri="{FF2B5EF4-FFF2-40B4-BE49-F238E27FC236}">
                <a16:creationId xmlns:a16="http://schemas.microsoft.com/office/drawing/2014/main" id="{30499D24-A426-4157-B4CD-84BA8959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102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6C75"/>
            </a:solidFill>
            <a:prstDash val="solid"/>
          </a:ln>
        </p:spPr>
      </p:sp>
      <p:sp>
        <p:nvSpPr>
          <p:cNvPr id="17" name="draft-data">
            <a:extLst xmlns:a="http://schemas.openxmlformats.org/drawingml/2006/main">
              <a:ext uri="{FF2B5EF4-FFF2-40B4-BE49-F238E27FC236}">
                <a16:creationId xmlns:a16="http://schemas.microsoft.com/office/drawing/2014/main" id="{4B554541-1522-4EDD-938B-D45E4C84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9125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Originals, edits and review history</a:t>
            </a:r>
          </a:p>
        </p:txBody>
      </p:sp>
      <p:sp>
        <p:nvSpPr>
          <p:cNvPr id="18" name="audio-boundary">
            <a:extLst xmlns:a="http://schemas.openxmlformats.org/drawingml/2006/main">
              <a:ext uri="{FF2B5EF4-FFF2-40B4-BE49-F238E27FC236}">
                <a16:creationId xmlns:a16="http://schemas.microsoft.com/office/drawing/2014/main" id="{D4FD8EBC-8271-4F0A-8167-86F5A9EA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1913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Audio playback stays here</a:t>
            </a:r>
          </a:p>
        </p:txBody>
      </p:sp>
      <p:sp>
        <p:nvSpPr>
          <p:cNvPr id="19" name="source-disclosure">
            <a:extLst xmlns:a="http://schemas.openxmlformats.org/drawingml/2006/main">
              <a:ext uri="{FF2B5EF4-FFF2-40B4-BE49-F238E27FC236}">
                <a16:creationId xmlns:a16="http://schemas.microsoft.com/office/drawing/2014/main" id="{53FFDB5F-BC82-4E40-B254-6F089E95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0"/>
            <a:ext cx="1657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The public Pages edition has no AI backend. No API key is collected there.</a:t>
            </a:r>
          </a:p>
        </p:txBody>
      </p:sp>
    </p:spTree>
    <p:extLst>
      <p:ext uri="{BB962C8B-B14F-4D97-AF65-F5344CB8AC3E}">
        <p14:creationId xmlns:p14="http://schemas.microsoft.com/office/powerpoint/2010/main" val="140983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D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1E681-E3AA-4431-A381-A1A0390D30B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2954000" y="44291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6C75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3A9D9-23C2-474E-AED3-7397F84CD4E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20125" y="44291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6C75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FB026-D488-4F29-9E44-1047473D22D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286250" y="44291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6C75"/>
            </a:solidFill>
            <a:prstDash val="solid"/>
            <a:tailEnd type="triangle" w="med" len="med"/>
          </a:ln>
        </p:spPr>
      </p:cxnSp>
      <p:sp>
        <p:nvSpPr>
          <p:cNvPr id="23" name="caption-safe-area">
            <a:extLst xmlns:a="http://schemas.openxmlformats.org/drawingml/2006/main">
              <a:ext uri="{FF2B5EF4-FFF2-40B4-BE49-F238E27FC236}">
                <a16:creationId xmlns:a16="http://schemas.microsoft.com/office/drawing/2014/main" id="{81FE50E1-8B1B-44B4-826B-AB1920EB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CC774-9566-433F-9265-1FBBAF24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Optional AI request</a:t>
            </a:r>
          </a:p>
        </p:txBody>
      </p:sp>
      <p:sp>
        <p:nvSpPr>
          <p:cNvPr id="3" name="server-edition">
            <a:extLst xmlns:a="http://schemas.openxmlformats.org/drawingml/2006/main">
              <a:ext uri="{FF2B5EF4-FFF2-40B4-BE49-F238E27FC236}">
                <a16:creationId xmlns:a16="http://schemas.microsoft.com/office/drawing/2014/main" id="{EA22AA75-8ED5-4BCA-A3B1-71D275F4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SERVER EDITION ONLY</a:t>
            </a:r>
          </a:p>
        </p:txBody>
      </p:sp>
      <p:sp>
        <p:nvSpPr>
          <p:cNvPr id="4" name="ai-0">
            <a:extLst xmlns:a="http://schemas.openxmlformats.org/drawingml/2006/main">
              <a:ext uri="{FF2B5EF4-FFF2-40B4-BE49-F238E27FC236}">
                <a16:creationId xmlns:a16="http://schemas.microsoft.com/office/drawing/2014/main" id="{E1BFBE05-4FB5-4F28-BEFB-B377CF88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26C75"/>
            </a:solidFill>
            <a:prstDash val="solid"/>
          </a:ln>
        </p:spPr>
      </p:sp>
      <p:sp>
        <p:nvSpPr>
          <p:cNvPr id="5" name="ai-0-title">
            <a:extLst xmlns:a="http://schemas.openxmlformats.org/drawingml/2006/main">
              <a:ext uri="{FF2B5EF4-FFF2-40B4-BE49-F238E27FC236}">
                <a16:creationId xmlns:a16="http://schemas.microsoft.com/office/drawing/2014/main" id="{641828EA-DD15-4E8C-99CE-35EFAAF0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00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Explicit click</a:t>
            </a:r>
          </a:p>
        </p:txBody>
      </p:sp>
      <p:sp>
        <p:nvSpPr>
          <p:cNvPr id="6" name="ai-0-sub">
            <a:extLst xmlns:a="http://schemas.openxmlformats.org/drawingml/2006/main">
              <a:ext uri="{FF2B5EF4-FFF2-40B4-BE49-F238E27FC236}">
                <a16:creationId xmlns:a16="http://schemas.microsoft.com/office/drawing/2014/main" id="{1F80DE24-16B2-472C-818E-67065B9C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38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Selected cue + glossary</a:t>
            </a:r>
          </a:p>
        </p:txBody>
      </p:sp>
      <p:sp>
        <p:nvSpPr>
          <p:cNvPr id="7" name="ai-1">
            <a:extLst xmlns:a="http://schemas.openxmlformats.org/drawingml/2006/main">
              <a:ext uri="{FF2B5EF4-FFF2-40B4-BE49-F238E27FC236}">
                <a16:creationId xmlns:a16="http://schemas.microsoft.com/office/drawing/2014/main" id="{94774B25-2EA8-461D-A6FB-528CB2D5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26C75"/>
            </a:solidFill>
            <a:prstDash val="solid"/>
          </a:ln>
        </p:spPr>
      </p:sp>
      <p:sp>
        <p:nvSpPr>
          <p:cNvPr id="8" name="ai-1-title">
            <a:extLst xmlns:a="http://schemas.openxmlformats.org/drawingml/2006/main">
              <a:ext uri="{FF2B5EF4-FFF2-40B4-BE49-F238E27FC236}">
                <a16:creationId xmlns:a16="http://schemas.microsoft.com/office/drawing/2014/main" id="{580D936F-DD69-4CDF-9E39-9CCC5933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0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Node API</a:t>
            </a:r>
          </a:p>
        </p:txBody>
      </p:sp>
      <p:sp>
        <p:nvSpPr>
          <p:cNvPr id="9" name="ai-1-sub">
            <a:extLst xmlns:a="http://schemas.openxmlformats.org/drawingml/2006/main">
              <a:ext uri="{FF2B5EF4-FFF2-40B4-BE49-F238E27FC236}">
                <a16:creationId xmlns:a16="http://schemas.microsoft.com/office/drawing/2014/main" id="{718367E1-067C-4CEA-8573-A798ACFD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38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Request limits and server-side key</a:t>
            </a:r>
          </a:p>
        </p:txBody>
      </p:sp>
      <p:sp>
        <p:nvSpPr>
          <p:cNvPr id="10" name="ai-2">
            <a:extLst xmlns:a="http://schemas.openxmlformats.org/drawingml/2006/main">
              <a:ext uri="{FF2B5EF4-FFF2-40B4-BE49-F238E27FC236}">
                <a16:creationId xmlns:a16="http://schemas.microsoft.com/office/drawing/2014/main" id="{B23BB59C-C135-4949-90BE-B62231EC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26C75"/>
            </a:solidFill>
            <a:prstDash val="solid"/>
          </a:ln>
        </p:spPr>
      </p:sp>
      <p:sp>
        <p:nvSpPr>
          <p:cNvPr id="11" name="ai-2-title">
            <a:extLst xmlns:a="http://schemas.openxmlformats.org/drawingml/2006/main">
              <a:ext uri="{FF2B5EF4-FFF2-40B4-BE49-F238E27FC236}">
                <a16:creationId xmlns:a16="http://schemas.microsoft.com/office/drawing/2014/main" id="{217C2EF6-35A1-4AF7-B351-A1FCD08B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00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Model</a:t>
            </a:r>
          </a:p>
        </p:txBody>
      </p:sp>
      <p:sp>
        <p:nvSpPr>
          <p:cNvPr id="12" name="ai-2-sub">
            <a:extLst xmlns:a="http://schemas.openxmlformats.org/drawingml/2006/main">
              <a:ext uri="{FF2B5EF4-FFF2-40B4-BE49-F238E27FC236}">
                <a16:creationId xmlns:a16="http://schemas.microsoft.com/office/drawing/2014/main" id="{CFD836D2-0818-471E-9A10-366C79F9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38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Cloud API or Ollama</a:t>
            </a:r>
          </a:p>
        </p:txBody>
      </p:sp>
      <p:sp>
        <p:nvSpPr>
          <p:cNvPr id="13" name="ai-3">
            <a:extLst xmlns:a="http://schemas.openxmlformats.org/drawingml/2006/main">
              <a:ext uri="{FF2B5EF4-FFF2-40B4-BE49-F238E27FC236}">
                <a16:creationId xmlns:a16="http://schemas.microsoft.com/office/drawing/2014/main" id="{06642B9E-6F01-4806-B839-58BFC352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33337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26C75"/>
            </a:solidFill>
            <a:prstDash val="solid"/>
          </a:ln>
        </p:spPr>
      </p:sp>
      <p:sp>
        <p:nvSpPr>
          <p:cNvPr id="14" name="ai-3-title">
            <a:extLst xmlns:a="http://schemas.openxmlformats.org/drawingml/2006/main">
              <a:ext uri="{FF2B5EF4-FFF2-40B4-BE49-F238E27FC236}">
                <a16:creationId xmlns:a16="http://schemas.microsoft.com/office/drawing/2014/main" id="{D6E09994-4E70-4CD7-912A-8B847C26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600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Suggestions</a:t>
            </a:r>
          </a:p>
        </p:txBody>
      </p:sp>
      <p:sp>
        <p:nvSpPr>
          <p:cNvPr id="15" name="ai-3-sub">
            <a:extLst xmlns:a="http://schemas.openxmlformats.org/drawingml/2006/main">
              <a:ext uri="{FF2B5EF4-FFF2-40B4-BE49-F238E27FC236}">
                <a16:creationId xmlns:a16="http://schemas.microsoft.com/office/drawing/2014/main" id="{A6F81AB8-E5E5-423B-B88D-2DA174B0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4238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Quotes to investigate</a:t>
            </a:r>
          </a:p>
        </p:txBody>
      </p:sp>
      <p:sp>
        <p:nvSpPr>
          <p:cNvPr id="19" name="audio-stays-divider">
            <a:extLst xmlns:a="http://schemas.openxmlformats.org/drawingml/2006/main">
              <a:ext uri="{FF2B5EF4-FFF2-40B4-BE49-F238E27FC236}">
                <a16:creationId xmlns:a16="http://schemas.microsoft.com/office/drawing/2014/main" id="{EA673D8B-1C89-455C-8D45-CEC4378B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1633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CDD1"/>
            </a:solidFill>
            <a:prstDash val="solid"/>
          </a:ln>
        </p:spPr>
      </p:sp>
      <p:sp>
        <p:nvSpPr>
          <p:cNvPr id="20" name="no-audio">
            <a:extLst xmlns:a="http://schemas.openxmlformats.org/drawingml/2006/main">
              <a:ext uri="{FF2B5EF4-FFF2-40B4-BE49-F238E27FC236}">
                <a16:creationId xmlns:a16="http://schemas.microsoft.com/office/drawing/2014/main" id="{26B467EA-2D79-4F3A-ACDF-B27F1CF3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Audio stays in the browser</a:t>
            </a:r>
          </a:p>
        </p:txBody>
      </p:sp>
      <p:sp>
        <p:nvSpPr>
          <p:cNvPr id="21" name="manual-apply">
            <a:extLst xmlns:a="http://schemas.openxmlformats.org/drawingml/2006/main">
              <a:ext uri="{FF2B5EF4-FFF2-40B4-BE49-F238E27FC236}">
                <a16:creationId xmlns:a16="http://schemas.microsoft.com/office/drawing/2014/main" id="{0A3F4641-964B-47A7-A8D7-E9915063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66750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The editor accepts every change</a:t>
            </a:r>
          </a:p>
        </p:txBody>
      </p:sp>
      <p:sp>
        <p:nvSpPr>
          <p:cNvPr id="22" name="source-disclosure">
            <a:extLst xmlns:a="http://schemas.openxmlformats.org/drawingml/2006/main">
              <a:ext uri="{FF2B5EF4-FFF2-40B4-BE49-F238E27FC236}">
                <a16:creationId xmlns:a16="http://schemas.microsoft.com/office/drawing/2014/main" id="{B9BF9442-EFCA-40A8-8982-0DFADD88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0"/>
            <a:ext cx="1657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Rate-limit or provider failures leave editing and export available. No automatic retries.</a:t>
            </a:r>
          </a:p>
        </p:txBody>
      </p:sp>
    </p:spTree>
    <p:extLst>
      <p:ext uri="{BB962C8B-B14F-4D97-AF65-F5344CB8AC3E}">
        <p14:creationId xmlns:p14="http://schemas.microsoft.com/office/powerpoint/2010/main" val="13726562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D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aption-safe-area">
            <a:extLst xmlns:a="http://schemas.openxmlformats.org/drawingml/2006/main">
              <a:ext uri="{FF2B5EF4-FFF2-40B4-BE49-F238E27FC236}">
                <a16:creationId xmlns:a16="http://schemas.microsoft.com/office/drawing/2014/main" id="{C2863884-CBAA-4C1F-A845-6C80CFFD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817D39-AE34-4DE6-9105-670ABB0E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Changed words, unchanged timing</a:t>
            </a:r>
          </a:p>
        </p:txBody>
      </p:sp>
      <p:sp>
        <p:nvSpPr>
          <p:cNvPr id="3" name="original-label">
            <a:extLst xmlns:a="http://schemas.openxmlformats.org/drawingml/2006/main">
              <a:ext uri="{FF2B5EF4-FFF2-40B4-BE49-F238E27FC236}">
                <a16:creationId xmlns:a16="http://schemas.microsoft.com/office/drawing/2014/main" id="{D6BCF93A-8BE4-40DC-83E8-904B5A8F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SOURCE CUE 4</a:t>
            </a:r>
          </a:p>
        </p:txBody>
      </p:sp>
      <p:sp>
        <p:nvSpPr>
          <p:cNvPr id="4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375FC9EA-3497-4C33-A226-3606AFB5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MANUALLY REVIEWED CUE 4</a:t>
            </a:r>
          </a:p>
        </p:txBody>
      </p:sp>
      <p:sp>
        <p:nvSpPr>
          <p:cNvPr id="5" name="original-srt">
            <a:extLst xmlns:a="http://schemas.openxmlformats.org/drawingml/2006/main">
              <a:ext uri="{FF2B5EF4-FFF2-40B4-BE49-F238E27FC236}">
                <a16:creationId xmlns:a16="http://schemas.microsoft.com/office/drawing/2014/main" id="{803A123C-9741-4594-B091-4BB5FCF9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762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rPr>
              <a:t>4</a:t>
            </a:r>
          </a:p>
          <a:p xmlns:a="http://schemas.openxmlformats.org/drawingml/2006/main">
            <a: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rPr>
              <a:t>00:00:09,769 --&gt; 00:00:13,789</a:t>
            </a:r>
          </a:p>
          <a:p xmlns:a="http://schemas.openxmlformats.org/drawingml/2006/main">
            <a: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rPr>
              <a:t>gonorrhea mersa these bedbugs are</a:t>
            </a:r>
          </a:p>
        </p:txBody>
      </p:sp>
      <p:sp>
        <p:nvSpPr>
          <p:cNvPr id="6" name="output-srt">
            <a:extLst xmlns:a="http://schemas.openxmlformats.org/drawingml/2006/main">
              <a:ext uri="{FF2B5EF4-FFF2-40B4-BE49-F238E27FC236}">
                <a16:creationId xmlns:a16="http://schemas.microsoft.com/office/drawing/2014/main" id="{026ABA68-EEC8-4D0B-A780-729EB740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81375"/>
            <a:ext cx="762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rPr>
              <a:t>4</a:t>
            </a:r>
          </a:p>
          <a:p xmlns:a="http://schemas.openxmlformats.org/drawingml/2006/main">
            <a: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rPr>
              <a:t>00:00:09,769 --&gt; 00:00:13,789</a:t>
            </a:r>
          </a:p>
          <a:p xmlns:a="http://schemas.openxmlformats.org/drawingml/2006/main">
            <a:pPr algn="l">
              <a:def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700" b="0">
                <a:solidFill>
                  <a:srgbClr val="143343"/>
                </a:solidFill>
                <a:latin typeface="DejaVu Sans Mono"/>
                <a:ea typeface="DejaVu Sans Mono"/>
                <a:cs typeface="DejaVu Sans Mono"/>
              </a:rPr>
              <a:t>Gonorrhea. MRSA. These bad bugs are</a:t>
            </a:r>
          </a:p>
        </p:txBody>
      </p:sp>
      <p:sp>
        <p:nvSpPr>
          <p:cNvPr id="7" name="timing-source-emphasis">
            <a:extLst xmlns:a="http://schemas.openxmlformats.org/drawingml/2006/main">
              <a:ext uri="{FF2B5EF4-FFF2-40B4-BE49-F238E27FC236}">
                <a16:creationId xmlns:a16="http://schemas.microsoft.com/office/drawing/2014/main" id="{86AB049D-A1BD-464E-BD07-C7DF970C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6C75"/>
            </a:solidFill>
            <a:prstDash val="solid"/>
          </a:ln>
        </p:spPr>
      </p:sp>
      <p:sp>
        <p:nvSpPr>
          <p:cNvPr id="8" name="timing-output-emphasis">
            <a:extLst xmlns:a="http://schemas.openxmlformats.org/drawingml/2006/main">
              <a:ext uri="{FF2B5EF4-FFF2-40B4-BE49-F238E27FC236}">
                <a16:creationId xmlns:a16="http://schemas.microsoft.com/office/drawing/2014/main" id="{C5C01091-6534-472D-B12A-123EAA3E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57675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6C75"/>
            </a:solidFill>
            <a:prstDash val="solid"/>
          </a:ln>
        </p:spPr>
      </p:sp>
      <p:sp>
        <p:nvSpPr>
          <p:cNvPr id="9" name="all-cues">
            <a:extLst xmlns:a="http://schemas.openxmlformats.org/drawingml/2006/main">
              <a:ext uri="{FF2B5EF4-FFF2-40B4-BE49-F238E27FC236}">
                <a16:creationId xmlns:a16="http://schemas.microsoft.com/office/drawing/2014/main" id="{42D5F198-E1A6-4808-9C2A-329FB88E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037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All 14 cues exported</a:t>
            </a:r>
          </a:p>
        </p:txBody>
      </p:sp>
      <p:sp>
        <p:nvSpPr>
          <p:cNvPr id="10" name="pending-disclosure">
            <a:extLst xmlns:a="http://schemas.openxmlformats.org/drawingml/2006/main">
              <a:ext uri="{FF2B5EF4-FFF2-40B4-BE49-F238E27FC236}">
                <a16:creationId xmlns:a16="http://schemas.microsoft.com/office/drawing/2014/main" id="{88198A8C-76B9-4F74-A51E-CC33093C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8103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13 still await review</a:t>
            </a:r>
          </a:p>
        </p:txBody>
      </p:sp>
      <p:sp>
        <p:nvSpPr>
          <p:cNvPr id="11" name="source-disclosure">
            <a:extLst xmlns:a="http://schemas.openxmlformats.org/drawingml/2006/main">
              <a:ext uri="{FF2B5EF4-FFF2-40B4-BE49-F238E27FC236}">
                <a16:creationId xmlns:a16="http://schemas.microsoft.com/office/drawing/2014/main" id="{4AC76D85-C7B8-4410-99B2-47D70095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0"/>
            <a:ext cx="1657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SRT carries text and timing. Save a project file to retain decisions and history.</a:t>
            </a:r>
          </a:p>
        </p:txBody>
      </p:sp>
    </p:spTree>
    <p:extLst>
      <p:ext uri="{BB962C8B-B14F-4D97-AF65-F5344CB8AC3E}">
        <p14:creationId xmlns:p14="http://schemas.microsoft.com/office/powerpoint/2010/main" val="17111970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D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aption-safe-area">
            <a:extLst xmlns:a="http://schemas.openxmlformats.org/drawingml/2006/main">
              <a:ext uri="{FF2B5EF4-FFF2-40B4-BE49-F238E27FC236}">
                <a16:creationId xmlns:a16="http://schemas.microsoft.com/office/drawing/2014/main" id="{DC9F5B73-D142-4D6B-9315-225B0027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7CB522-9EE7-4184-B6CD-F834EC49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Text and timing survived the round trip</a:t>
            </a:r>
          </a:p>
        </p:txBody>
      </p:sp>
      <p:sp>
        <p:nvSpPr>
          <p:cNvPr id="3" name="total">
            <a:extLst xmlns:a="http://schemas.openxmlformats.org/drawingml/2006/main">
              <a:ext uri="{FF2B5EF4-FFF2-40B4-BE49-F238E27FC236}">
                <a16:creationId xmlns:a16="http://schemas.microsoft.com/office/drawing/2014/main" id="{D430C27B-AF58-4965-B862-E680206B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112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257</a:t>
            </a:r>
          </a:p>
        </p:txBody>
      </p:sp>
      <p:sp>
        <p:nvSpPr>
          <p:cNvPr id="4" name="unit">
            <a:extLst xmlns:a="http://schemas.openxmlformats.org/drawingml/2006/main">
              <a:ext uri="{FF2B5EF4-FFF2-40B4-BE49-F238E27FC236}">
                <a16:creationId xmlns:a16="http://schemas.microsoft.com/office/drawing/2014/main" id="{E4BC2C25-EA02-42D8-9078-B4F7287A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581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actual automatic-caption cues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F5DBF12-BB7D-47E4-9451-FBB601844AD0}"/>
              </a:ext>
            </a:extLst>
          </p:cNvPr>
          <p:cNvGraphicFramePr/>
          <p:nvPr/>
        </p:nvGraphicFramePr>
        <p:xfrm>
          <a:off xmlns:a="http://schemas.openxmlformats.org/drawingml/2006/main" x="7239000" y="2476500"/>
          <a:ext xmlns:a="http://schemas.openxmlformats.org/drawingml/2006/main" cx="10096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1ad22fa42c4d7b"/>
          </a:graphicData>
        </a:graphic>
      </p:graphicFrame>
      <p:sp>
        <p:nvSpPr>
          <p:cNvPr id="6" name="checks">
            <a:extLst xmlns:a="http://schemas.openxmlformats.org/drawingml/2006/main">
              <a:ext uri="{FF2B5EF4-FFF2-40B4-BE49-F238E27FC236}">
                <a16:creationId xmlns:a16="http://schemas.microsoft.com/office/drawing/2014/main" id="{70872DDB-B47B-4A49-BE79-D289B2A5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77000"/>
            <a:ext cx="1657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22 core/API checks and 14 browser tests pass</a:t>
            </a:r>
          </a:p>
        </p:txBody>
      </p:sp>
      <p:sp>
        <p:nvSpPr>
          <p:cNvPr id="7" name="source-disclosure">
            <a:extLst xmlns:a="http://schemas.openxmlformats.org/drawingml/2006/main">
              <a:ext uri="{FF2B5EF4-FFF2-40B4-BE49-F238E27FC236}">
                <a16:creationId xmlns:a16="http://schemas.microsoft.com/office/drawing/2014/main" id="{20E00954-437C-429B-87CD-4AE95D1D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0"/>
            <a:ext cx="1657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Developer-run checks. Human time savings and medical correctness remain unmeasured.</a:t>
            </a:r>
          </a:p>
        </p:txBody>
      </p:sp>
    </p:spTree>
    <p:extLst>
      <p:ext uri="{BB962C8B-B14F-4D97-AF65-F5344CB8AC3E}">
        <p14:creationId xmlns:p14="http://schemas.microsoft.com/office/powerpoint/2010/main" val="19733088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D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aption-safe-area">
            <a:extLst xmlns:a="http://schemas.openxmlformats.org/drawingml/2006/main">
              <a:ext uri="{FF2B5EF4-FFF2-40B4-BE49-F238E27FC236}">
                <a16:creationId xmlns:a16="http://schemas.microsoft.com/office/drawing/2014/main" id="{B682C371-8A95-4E03-B6B8-FEEB6604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BF2FAD-EEB8-4725-8613-9EF7CB13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An AI suggestion can misdirect attention</a:t>
            </a:r>
          </a:p>
        </p:txBody>
      </p:sp>
      <p:sp>
        <p:nvSpPr>
          <p:cNvPr id="3" name="recorded-label">
            <a:extLst xmlns:a="http://schemas.openxmlformats.org/drawingml/2006/main">
              <a:ext uri="{FF2B5EF4-FFF2-40B4-BE49-F238E27FC236}">
                <a16:creationId xmlns:a16="http://schemas.microsoft.com/office/drawing/2014/main" id="{13E85913-D515-4E19-91FD-4851EEFC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RECORDED GEMINI RESPONSES</a:t>
            </a:r>
          </a:p>
        </p:txBody>
      </p:sp>
      <p:sp>
        <p:nvSpPr>
          <p:cNvPr id="4" name="useful-label">
            <a:extLst xmlns:a="http://schemas.openxmlformats.org/drawingml/2006/main">
              <a:ext uri="{FF2B5EF4-FFF2-40B4-BE49-F238E27FC236}">
                <a16:creationId xmlns:a16="http://schemas.microsoft.com/office/drawing/2014/main" id="{503348D2-126B-4C96-92B2-BB39830D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A useful lead</a:t>
            </a:r>
          </a:p>
        </p:txBody>
      </p:sp>
      <p:sp>
        <p:nvSpPr>
          <p:cNvPr id="5" name="useful-quote">
            <a:extLst xmlns:a="http://schemas.openxmlformats.org/drawingml/2006/main">
              <a:ext uri="{FF2B5EF4-FFF2-40B4-BE49-F238E27FC236}">
                <a16:creationId xmlns:a16="http://schemas.microsoft.com/office/drawing/2014/main" id="{D4369219-C8A3-4E4F-B6CB-308313B7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“mersa”</a:t>
            </a:r>
          </a:p>
        </p:txBody>
      </p:sp>
      <p:sp>
        <p:nvSpPr>
          <p:cNvPr id="6" name="useful-reason">
            <a:extLst xmlns:a="http://schemas.openxmlformats.org/drawingml/2006/main">
              <a:ext uri="{FF2B5EF4-FFF2-40B4-BE49-F238E27FC236}">
                <a16:creationId xmlns:a16="http://schemas.microsoft.com/office/drawing/2014/main" id="{D725CA8C-4EA0-4559-A633-25948D48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334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“possible mishearing of medical term MRSA”</a:t>
            </a:r>
          </a:p>
        </p:txBody>
      </p:sp>
      <p:sp>
        <p:nvSpPr>
          <p:cNvPr id="7" name="warning-label">
            <a:extLst xmlns:a="http://schemas.openxmlformats.org/drawingml/2006/main">
              <a:ext uri="{FF2B5EF4-FFF2-40B4-BE49-F238E27FC236}">
                <a16:creationId xmlns:a16="http://schemas.microsoft.com/office/drawing/2014/main" id="{2E791330-4EE7-4587-8B94-88DBDA9C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80521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00" b="1">
                <a:solidFill>
                  <a:srgbClr val="80521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00" b="1">
                <a:solidFill>
                  <a:srgbClr val="80521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00" b="1">
                <a:solidFill>
                  <a:srgbClr val="80521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00" b="1">
                <a:solidFill>
                  <a:srgbClr val="80521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00" b="1">
                <a:solidFill>
                  <a:srgbClr val="80521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00" b="1">
                <a:solidFill>
                  <a:srgbClr val="80521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00" b="1">
                <a:solidFill>
                  <a:srgbClr val="80521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00" b="1">
                <a:solidFill>
                  <a:srgbClr val="80521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00" b="1">
                <a:solidFill>
                  <a:srgbClr val="80521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80521C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80521C"/>
                </a:solidFill>
                <a:latin typeface="DejaVu Sans"/>
                <a:ea typeface="DejaVu Sans"/>
                <a:cs typeface="DejaVu Sans"/>
              </a:rPr>
              <a:t>A misplaced warning</a:t>
            </a:r>
          </a:p>
        </p:txBody>
      </p:sp>
      <p:sp>
        <p:nvSpPr>
          <p:cNvPr id="8" name="warning-quote">
            <a:extLst xmlns:a="http://schemas.openxmlformats.org/drawingml/2006/main">
              <a:ext uri="{FF2B5EF4-FFF2-40B4-BE49-F238E27FC236}">
                <a16:creationId xmlns:a16="http://schemas.microsoft.com/office/drawing/2014/main" id="{6500C78F-7F03-47EF-BDAE-255C6395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57625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“gonorrhea”</a:t>
            </a:r>
          </a:p>
        </p:txBody>
      </p:sp>
      <p:sp>
        <p:nvSpPr>
          <p:cNvPr id="9" name="warning-reason">
            <a:extLst xmlns:a="http://schemas.openxmlformats.org/drawingml/2006/main">
              <a:ext uri="{FF2B5EF4-FFF2-40B4-BE49-F238E27FC236}">
                <a16:creationId xmlns:a16="http://schemas.microsoft.com/office/drawing/2014/main" id="{56734039-1ABB-46A8-89D5-AA1DA433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0"/>
            <a:ext cx="7429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“Check for similar-sounding medical terminology”</a:t>
            </a:r>
          </a:p>
        </p:txBody>
      </p:sp>
      <p:sp>
        <p:nvSpPr>
          <p:cNvPr id="10" name="caveat-divider">
            <a:extLst xmlns:a="http://schemas.openxmlformats.org/drawingml/2006/main">
              <a:ext uri="{FF2B5EF4-FFF2-40B4-BE49-F238E27FC236}">
                <a16:creationId xmlns:a16="http://schemas.microsoft.com/office/drawing/2014/main" id="{AD8106B0-5BDB-4E51-A7AE-EC44639A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77050"/>
            <a:ext cx="1628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CDD1"/>
            </a:solidFill>
            <a:prstDash val="solid"/>
          </a:ln>
        </p:spPr>
      </p:sp>
      <p:sp>
        <p:nvSpPr>
          <p:cNvPr id="11" name="source-disclosure">
            <a:extLst xmlns:a="http://schemas.openxmlformats.org/drawingml/2006/main">
              <a:ext uri="{FF2B5EF4-FFF2-40B4-BE49-F238E27FC236}">
                <a16:creationId xmlns:a16="http://schemas.microsoft.com/office/drawing/2014/main" id="{D093A86B-0DA2-4896-B9D0-7E8400B8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0"/>
            <a:ext cx="1657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Four selected checks included a misplaced warning on a correct term. Suggestions never apply themselves.</a:t>
            </a:r>
          </a:p>
        </p:txBody>
      </p:sp>
    </p:spTree>
    <p:extLst>
      <p:ext uri="{BB962C8B-B14F-4D97-AF65-F5344CB8AC3E}">
        <p14:creationId xmlns:p14="http://schemas.microsoft.com/office/powerpoint/2010/main" val="1417354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D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aption-safe-area">
            <a:extLst xmlns:a="http://schemas.openxmlformats.org/drawingml/2006/main">
              <a:ext uri="{FF2B5EF4-FFF2-40B4-BE49-F238E27FC236}">
                <a16:creationId xmlns:a16="http://schemas.microsoft.com/office/drawing/2014/main" id="{17A75D8B-1DEF-4C2E-AE47-53744E29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3CF91F-2092-4587-A5B5-8DE63C5B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MedCue demo</a:t>
            </a:r>
          </a:p>
        </p:txBody>
      </p:sp>
      <p:sp>
        <p:nvSpPr>
          <p:cNvPr id="3" name="url">
            <a:extLst xmlns:a="http://schemas.openxmlformats.org/drawingml/2006/main">
              <a:ext uri="{FF2B5EF4-FFF2-40B4-BE49-F238E27FC236}">
                <a16:creationId xmlns:a16="http://schemas.microsoft.com/office/drawing/2014/main" id="{12617714-41E1-4F7D-AAAE-8A5221BC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1638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8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8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8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8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8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8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8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8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8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126C75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126C75"/>
                </a:solidFill>
                <a:latin typeface="DejaVu Sans"/>
                <a:ea typeface="DejaVu Sans"/>
                <a:cs typeface="DejaVu Sans"/>
              </a:rPr>
              <a:t>georgefifth.github.io/medcue/</a:t>
            </a:r>
          </a:p>
        </p:txBody>
      </p:sp>
      <p:sp>
        <p:nvSpPr>
          <p:cNvPr id="4" name="start">
            <a:extLst xmlns:a="http://schemas.openxmlformats.org/drawingml/2006/main">
              <a:ext uri="{FF2B5EF4-FFF2-40B4-BE49-F238E27FC236}">
                <a16:creationId xmlns:a16="http://schemas.microsoft.com/office/drawing/2014/main" id="{D1285D48-AF07-42B2-ACF6-01B09D0E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638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0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0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0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0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0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0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0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0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0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43343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143343"/>
                </a:solidFill>
                <a:latin typeface="DejaVu Sans"/>
                <a:ea typeface="DejaVu Sans"/>
                <a:cs typeface="DejaVu Sans"/>
              </a:rPr>
              <a:t>Choose “Try a real recording”</a:t>
            </a:r>
          </a:p>
        </p:txBody>
      </p:sp>
      <p:sp>
        <p:nvSpPr>
          <p:cNvPr id="5" name="sample">
            <a:extLst xmlns:a="http://schemas.openxmlformats.org/drawingml/2006/main">
              <a:ext uri="{FF2B5EF4-FFF2-40B4-BE49-F238E27FC236}">
                <a16:creationId xmlns:a16="http://schemas.microsoft.com/office/drawing/2014/main" id="{80FE4F6D-9BBC-40D8-9E82-078085EF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1581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37.5 seconds of public NLM audio with actual automatic captions</a:t>
            </a:r>
          </a:p>
        </p:txBody>
      </p:sp>
      <p:sp>
        <p:nvSpPr>
          <p:cNvPr id="6" name="cta-divider">
            <a:extLst xmlns:a="http://schemas.openxmlformats.org/drawingml/2006/main">
              <a:ext uri="{FF2B5EF4-FFF2-40B4-BE49-F238E27FC236}">
                <a16:creationId xmlns:a16="http://schemas.microsoft.com/office/drawing/2014/main" id="{603D920E-952B-4C8D-A0E4-93869D86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0"/>
            <a:ext cx="1628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CDD1"/>
            </a:solidFill>
            <a:prstDash val="solid"/>
          </a:ln>
        </p:spPr>
      </p:sp>
      <p:sp>
        <p:nvSpPr>
          <p:cNvPr id="7" name="source-disclosure">
            <a:extLst xmlns:a="http://schemas.openxmlformats.org/drawingml/2006/main">
              <a:ext uri="{FF2B5EF4-FFF2-40B4-BE49-F238E27FC236}">
                <a16:creationId xmlns:a16="http://schemas.microsoft.com/office/drawing/2014/main" id="{A94154AA-1064-439C-A679-1D982991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0"/>
            <a:ext cx="1657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16C77"/>
                </a:solidFill>
                <a:latin typeface="DejaVu Sans"/>
                <a:ea typeface="DejaVu Sans"/>
                <a:cs typeface="DejaVu Sans"/>
              </a:rPr>
              <a:t>Source and server setup: github.com/Georgefifth/medcue</a:t>
            </a:r>
          </a:p>
        </p:txBody>
      </p:sp>
    </p:spTree>
    <p:extLst>
      <p:ext uri="{BB962C8B-B14F-4D97-AF65-F5344CB8AC3E}">
        <p14:creationId xmlns:p14="http://schemas.microsoft.com/office/powerpoint/2010/main" val="1838912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2026-10-19T14:18:22.8970000Z</dcterms:created>
  <dcterms:modified xsi:type="dcterms:W3CDTF">2026-10-19T14:18:22.8970000Z</dcterms:modified>
</coreProperties>
</file>